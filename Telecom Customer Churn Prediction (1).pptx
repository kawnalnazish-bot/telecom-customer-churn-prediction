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Space Grotesk"/>
      <ns0:bold ns1:id="rIdFont13"/>
    </ns0:embeddedFon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de488ec3-8d8a-47fe-8e16-9b0611468d21.fntdata" /><ns0:Relationship Id="rIdFont14" Type="http://schemas.openxmlformats.org/officeDocument/2006/relationships/font" Target="fonts/f653b4d0-85c9-4725-ab0a-3e5c52e07f6b.fntdata" /><ns0:Relationship Id="rIdFont15" Type="http://schemas.openxmlformats.org/officeDocument/2006/relationships/font" Target="fonts/4940b8ee-32bd-4c78-b0c9-8a126ab9ca7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02335"/>
            <a:ext cx="809625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769864"/>
            <a:ext cx="2019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02335"/>
            <a:ext cx="80962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0200" y="4730948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055614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Telecom Customer Churn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34655"/>
            <a:ext cx="6762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Predictive modeling and actionable retention strategies to reduce customer attrition.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1827014"/>
            <a:ext cx="1847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600" y="1827014"/>
            <a:ext cx="2024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Machine Learning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78560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69060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Nazish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525" y="4678560"/>
            <a:ext cx="431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4525" y="4869060"/>
            <a:ext cx="4310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Python • Pandas • Scikit-Learn • XGBoost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00387"/>
            <a:ext cx="5181600" cy="1724025"/>
          </a:xfrm>
          <a:prstGeom prst="roundRect">
            <a:avLst>
              <a:gd name="adj" fmla="val 88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8000"/>
            <a:ext cx="51816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100387"/>
            <a:ext cx="47625" cy="17240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048000"/>
            <a:ext cx="47625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46233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4099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380047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4129087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4348162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Problem Statement &amp;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709987"/>
            <a:ext cx="45434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 customer churn rates directly diminish telecom revenue while significantly increasing customer acquisition overheads.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5425" y="3443287"/>
            <a:ext cx="18752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1825" y="3390900"/>
            <a:ext cx="253781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Primary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3657600"/>
            <a:ext cx="431482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Predict churn likelihood with machine learning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525" y="4095750"/>
            <a:ext cx="53244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Identify key behavioral and pricing risk drivers.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4314825"/>
            <a:ext cx="53244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Deliver targeted business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39603"/>
            <a:ext cx="5219700" cy="1270396"/>
          </a:xfrm>
          <a:prstGeom prst="roundRect">
            <a:avLst>
              <a:gd name="adj" fmla="val 89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39603"/>
            <a:ext cx="5219700" cy="1270396"/>
          </a:xfrm>
          <a:prstGeom prst="roundRect">
            <a:avLst>
              <a:gd name="adj" fmla="val 89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038600"/>
            <a:ext cx="5219700" cy="1270396"/>
          </a:xfrm>
          <a:prstGeom prst="roundRect">
            <a:avLst>
              <a:gd name="adj" fmla="val 89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38600"/>
            <a:ext cx="5219700" cy="1270396"/>
          </a:xfrm>
          <a:prstGeom prst="roundRect">
            <a:avLst>
              <a:gd name="adj" fmla="val 89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839640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39640"/>
            <a:ext cx="1428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338637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338637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DATA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Exploratory Data Analysis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053953"/>
            <a:ext cx="476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Month-to-month contracts drive disproportionately higher churn rates.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053953"/>
            <a:ext cx="476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New customers under 12 months show highest attrition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552950"/>
            <a:ext cx="476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Electronic check payment users exhibit elevated cancellation frequency.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552950"/>
            <a:ext cx="476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Higher monthly service fees correlate strongly with increased churn probability.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2815828"/>
            <a:ext cx="218777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Contract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2815828"/>
            <a:ext cx="20502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Customer Tenure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14825"/>
            <a:ext cx="20752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Payment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9900" y="4314825"/>
            <a:ext cx="206275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Monthly Charges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38069" y="2877740"/>
            <a:ext cx="4491930" cy="2131218"/>
          </a:xfrm>
          <a:prstGeom prst="roundRect">
            <a:avLst>
              <a:gd name="adj" fmla="val 71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2924175"/>
          <a:ext cx="5795068" cy="2038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75148"/>
                <a:gridCol w="1218604"/>
                <a:gridCol w="1305669"/>
                <a:gridCol w="895647"/>
              </a:tblGrid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ROC-AUC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Logistic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Random Forest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9589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Tuned XGBoost 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83%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0.88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81%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Model Selection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2394" y="3192065"/>
            <a:ext cx="493960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 Modeling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2394" y="3582590"/>
            <a:ext cx="395853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Tuned XGBoost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delivered optimal class separation and high recall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2394" y="4214812"/>
            <a:ext cx="395853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Minimized false negatives to effectively identify at-risk customers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89064"/>
            <a:ext cx="3403550" cy="1908571"/>
          </a:xfrm>
          <a:prstGeom prst="roundRect">
            <a:avLst>
              <a:gd name="adj" fmla="val 5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869108"/>
            <a:ext cx="3403550" cy="2148482"/>
          </a:xfrm>
          <a:prstGeom prst="roundRect">
            <a:avLst>
              <a:gd name="adj" fmla="val 5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869108"/>
            <a:ext cx="3403550" cy="2148482"/>
          </a:xfrm>
          <a:prstGeom prst="roundRect">
            <a:avLst>
              <a:gd name="adj" fmla="val 5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STRATEGIC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Business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03389"/>
            <a:ext cx="34686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89164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Contract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103489"/>
            <a:ext cx="28701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Incentivize long-term contracts with bundled discounts and perks.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183433"/>
            <a:ext cx="34686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3669208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Early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5" y="3983533"/>
            <a:ext cx="28701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Target proactive retention programs toward first-year subscribers.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0625" y="3183433"/>
            <a:ext cx="34686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669208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Smart Discounts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3983533"/>
            <a:ext cx="28701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Provide automated loyalty discounts to high-value, high-risk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14687"/>
            <a:ext cx="5143500" cy="1600200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214687"/>
            <a:ext cx="5143500" cy="1600200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431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28862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3567112"/>
            <a:ext cx="582572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948112"/>
            <a:ext cx="4533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Machine learning successfully predicts customer churn risk, empowering proactive retention tactics.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567112"/>
            <a:ext cx="55530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948112"/>
            <a:ext cx="4533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Integrate real-time prediction APIs and deploy interactive Streamlit analytical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